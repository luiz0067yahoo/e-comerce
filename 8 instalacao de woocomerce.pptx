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71" r:id="rId6"/>
    <p:sldId id="276" r:id="rId7"/>
    <p:sldId id="272" r:id="rId8"/>
    <p:sldId id="273" r:id="rId9"/>
    <p:sldId id="274" r:id="rId10"/>
    <p:sldId id="279" r:id="rId11"/>
    <p:sldId id="275" r:id="rId12"/>
    <p:sldId id="277" r:id="rId13"/>
    <p:sldId id="278" r:id="rId14"/>
    <p:sldId id="281" r:id="rId15"/>
    <p:sldId id="280" r:id="rId16"/>
    <p:sldId id="282" r:id="rId17"/>
    <p:sldId id="283" r:id="rId18"/>
    <p:sldId id="263" r:id="rId19"/>
    <p:sldId id="264" r:id="rId20"/>
    <p:sldId id="265" r:id="rId21"/>
    <p:sldId id="266" r:id="rId22"/>
    <p:sldId id="267" r:id="rId23"/>
    <p:sldId id="268" r:id="rId24"/>
    <p:sldId id="269" r:id="rId25"/>
    <p:sldId id="270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F172A"/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64" d="100"/>
          <a:sy n="64" d="100"/>
        </p:scale>
        <p:origin x="7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Apresentacao do Modulo 8: Instalacao e Configuracao do WooCommerce. Explicar aos alunos o objetivo da aula: transformar o WordPress instalado no Modulo 6 em uma loja virtual completa.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a arquitetura em camadas do WooCommerce e por que ele e lider absoluto no mercado global de e-commerce, destacando a posse real dos dados e a ausencia de comissoes por venda.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Destacar a importancia do PHP 8.x, memoria de 256MB+ e do certificado SSL HTTPS ativo. Sem SSL nenhum gateway de pagamento aprova transacoes.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905605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5410974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61990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293833564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13809863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71861820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81890234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8909350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44645216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146158862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5245355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398055237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Passo a passo no painel: mostrar onde fica o menu lateral de Plugins e o botao 'Adicionar Novo' que conecta ao repositorio oficial.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6701565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as 4 paginas essenciais criadas automaticamente (Loja, Carrinho, Finalizar Compra e Minha Conta) e alertar severamente para jamais exclui-las.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a separacao logica no painel do WordPress entre o menu 'WooCommerce' (operacoes, pedidos e clientes) e o menu 'Produtos' (catalogo).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Passar pelas Configuracoes Gerais: endereco fisico da loja para frete, restricao de venda apenas para o Brasil e formatacao correta da moeda BRL.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Atencao total nesta aula para as Unidades de Medida: Peso SEMPRE em 'kg' e Dimensoes SEMPRE em 'cm'. Explicar o erro catastrofico que ocorre se cadastrar gramas como kg.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Explicar o fluxo de e-mails transacionais automaticos enviados pelo WooCommerce para cliente e lojista em cada etapa do pedido.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Mostrar aos alunos como acessar 'WooCommerce &gt; Status' para auditar a saude do servidor e confirmar que todos os itens estao verdes.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Abordar seguranca e performance: regras de cache para e-commerce (nunca cachear carrinho/checkout), backups diarios e autenticacao em dois fatores.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Revisao final com o checklist de conclusao do Modulo 8 e introducao do Modulo 9: Integracao com Mercado Livre e Mercado Pago.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A0356376-EF83-BB82-A63C-E664290DF2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2" y="182880"/>
            <a:ext cx="10972800" cy="6492240"/>
          </a:xfrm>
          <a:prstGeom prst="rect">
            <a:avLst/>
          </a:prstGeom>
        </p:spPr>
      </p:pic>
      <p:sp>
        <p:nvSpPr>
          <p:cNvPr id="7" name="Seta: para Baixo 6">
            <a:extLst>
              <a:ext uri="{FF2B5EF4-FFF2-40B4-BE49-F238E27FC236}">
                <a16:creationId xmlns:a16="http://schemas.microsoft.com/office/drawing/2014/main" id="{DDEF6EEB-E7F2-72A2-73A1-B62EB23082A9}"/>
              </a:ext>
            </a:extLst>
          </p:cNvPr>
          <p:cNvSpPr/>
          <p:nvPr/>
        </p:nvSpPr>
        <p:spPr>
          <a:xfrm rot="5400000">
            <a:off x="1716067" y="-205426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FCA3D015-A7FB-4832-792D-E186B03F1049}"/>
              </a:ext>
            </a:extLst>
          </p:cNvPr>
          <p:cNvSpPr/>
          <p:nvPr/>
        </p:nvSpPr>
        <p:spPr>
          <a:xfrm rot="10800000">
            <a:off x="338202" y="1497069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C54A2F-6D3D-A472-7EE5-8DECD426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932" y="182880"/>
            <a:ext cx="10809961" cy="649224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A234276C-8510-E9D2-C819-5AC1C4FE13DC}"/>
              </a:ext>
            </a:extLst>
          </p:cNvPr>
          <p:cNvSpPr/>
          <p:nvPr/>
        </p:nvSpPr>
        <p:spPr>
          <a:xfrm rot="10800000">
            <a:off x="2004164" y="1484543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07742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5EDF1C9-2FBC-FF44-994C-66397B5E4B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5" y="0"/>
            <a:ext cx="11098062" cy="6858000"/>
          </a:xfrm>
          <a:prstGeom prst="rect">
            <a:avLst/>
          </a:prstGeom>
        </p:spPr>
      </p:pic>
      <p:sp>
        <p:nvSpPr>
          <p:cNvPr id="8" name="Seta: para Baixo 7">
            <a:extLst>
              <a:ext uri="{FF2B5EF4-FFF2-40B4-BE49-F238E27FC236}">
                <a16:creationId xmlns:a16="http://schemas.microsoft.com/office/drawing/2014/main" id="{B7067AC0-749F-4D70-B0BA-8E45F0F71D10}"/>
              </a:ext>
            </a:extLst>
          </p:cNvPr>
          <p:cNvSpPr/>
          <p:nvPr/>
        </p:nvSpPr>
        <p:spPr>
          <a:xfrm rot="5400000">
            <a:off x="9857986" y="81629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eta: para Baixo 8">
            <a:extLst>
              <a:ext uri="{FF2B5EF4-FFF2-40B4-BE49-F238E27FC236}">
                <a16:creationId xmlns:a16="http://schemas.microsoft.com/office/drawing/2014/main" id="{6486D348-4840-61CD-735B-D757C600DF8A}"/>
              </a:ext>
            </a:extLst>
          </p:cNvPr>
          <p:cNvSpPr/>
          <p:nvPr/>
        </p:nvSpPr>
        <p:spPr>
          <a:xfrm rot="10800000">
            <a:off x="3670126" y="2411469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7299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F6528F4-54E3-81CF-E33D-CFA26620DC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6822" y="0"/>
            <a:ext cx="10421655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D172D854-CF8A-0A50-BDCE-E06D519FCC9B}"/>
              </a:ext>
            </a:extLst>
          </p:cNvPr>
          <p:cNvSpPr/>
          <p:nvPr/>
        </p:nvSpPr>
        <p:spPr>
          <a:xfrm rot="10800000">
            <a:off x="3770334" y="230792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38061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BE45BE0-5685-C90F-F422-64401AB71D9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79" y="0"/>
            <a:ext cx="10258818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A08E9362-05E0-90BD-A34D-6A966FF19B03}"/>
              </a:ext>
            </a:extLst>
          </p:cNvPr>
          <p:cNvSpPr/>
          <p:nvPr/>
        </p:nvSpPr>
        <p:spPr>
          <a:xfrm rot="16200000">
            <a:off x="3206665" y="3748413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8340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71B5209-FF4E-3BF3-9580-ECF97D5865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984" y="0"/>
            <a:ext cx="10835013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8826239C-094D-64DC-6F07-237FCA671A79}"/>
              </a:ext>
            </a:extLst>
          </p:cNvPr>
          <p:cNvSpPr/>
          <p:nvPr/>
        </p:nvSpPr>
        <p:spPr>
          <a:xfrm rot="16200000">
            <a:off x="2780781" y="3284950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737262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546AA4F-2B65-63D7-DD1B-4E27C08F13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348" y="0"/>
            <a:ext cx="10772384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ABC4538-4ED2-FE23-BB14-FED41BD16D7D}"/>
              </a:ext>
            </a:extLst>
          </p:cNvPr>
          <p:cNvSpPr/>
          <p:nvPr/>
        </p:nvSpPr>
        <p:spPr>
          <a:xfrm rot="16200000">
            <a:off x="2893515" y="2107504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8381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8D3C801-DA94-709B-E036-989A55AC5C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619" y="0"/>
            <a:ext cx="11173218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2ABC4538-4ED2-FE23-BB14-FED41BD16D7D}"/>
              </a:ext>
            </a:extLst>
          </p:cNvPr>
          <p:cNvSpPr/>
          <p:nvPr/>
        </p:nvSpPr>
        <p:spPr>
          <a:xfrm rot="16200000">
            <a:off x="2793307" y="4399767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011656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0B298F1-A42D-6E07-B40F-7C4BB881C6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248" y="0"/>
            <a:ext cx="1089764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0505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E62FD8F-FDE8-0E82-A4BB-E422D691FE8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301" y="0"/>
            <a:ext cx="11047958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6B92C331-B949-CFCD-AB78-FA43BA7BA2D6}"/>
              </a:ext>
            </a:extLst>
          </p:cNvPr>
          <p:cNvSpPr/>
          <p:nvPr/>
        </p:nvSpPr>
        <p:spPr>
          <a:xfrm rot="16200000">
            <a:off x="3469714" y="4399768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616189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D5C2C57-9459-BBAF-5796-0F76B0E320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462" y="0"/>
            <a:ext cx="1114816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50852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98D02700-7AFB-69FE-FE98-2D4ACD008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1041" y="0"/>
            <a:ext cx="11160692" cy="6858000"/>
          </a:xfrm>
          <a:prstGeom prst="rect">
            <a:avLst/>
          </a:prstGeom>
        </p:spPr>
      </p:pic>
      <p:sp>
        <p:nvSpPr>
          <p:cNvPr id="4" name="Seta: para Baixo 3">
            <a:extLst>
              <a:ext uri="{FF2B5EF4-FFF2-40B4-BE49-F238E27FC236}">
                <a16:creationId xmlns:a16="http://schemas.microsoft.com/office/drawing/2014/main" id="{C76C3C84-48A9-AF9B-257E-6153B9386981}"/>
              </a:ext>
            </a:extLst>
          </p:cNvPr>
          <p:cNvSpPr/>
          <p:nvPr/>
        </p:nvSpPr>
        <p:spPr>
          <a:xfrm rot="16200000">
            <a:off x="2379950" y="1831932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66006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3DDF00-CE5D-71F9-23A7-2F459765E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5" y="0"/>
            <a:ext cx="11085536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D1FD8449-187F-2509-9696-7AB0E32E516B}"/>
              </a:ext>
            </a:extLst>
          </p:cNvPr>
          <p:cNvSpPr/>
          <p:nvPr/>
        </p:nvSpPr>
        <p:spPr>
          <a:xfrm rot="16200000">
            <a:off x="2918570" y="742168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67649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 5">
            <a:extLst>
              <a:ext uri="{FF2B5EF4-FFF2-40B4-BE49-F238E27FC236}">
                <a16:creationId xmlns:a16="http://schemas.microsoft.com/office/drawing/2014/main" id="{8DC220E4-CDF2-B2FC-8D4C-30090C95720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F172A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43DDF00-CE5D-71F9-23A7-2F459765EAB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775" y="0"/>
            <a:ext cx="11085536" cy="6858000"/>
          </a:xfrm>
          <a:prstGeom prst="rect">
            <a:avLst/>
          </a:prstGeom>
        </p:spPr>
      </p:pic>
      <p:sp>
        <p:nvSpPr>
          <p:cNvPr id="5" name="Seta: para Baixo 4">
            <a:extLst>
              <a:ext uri="{FF2B5EF4-FFF2-40B4-BE49-F238E27FC236}">
                <a16:creationId xmlns:a16="http://schemas.microsoft.com/office/drawing/2014/main" id="{D1FD8449-187F-2509-9696-7AB0E32E516B}"/>
              </a:ext>
            </a:extLst>
          </p:cNvPr>
          <p:cNvSpPr/>
          <p:nvPr/>
        </p:nvSpPr>
        <p:spPr>
          <a:xfrm rot="16200000">
            <a:off x="2918570" y="742168"/>
            <a:ext cx="1716066" cy="2242159"/>
          </a:xfrm>
          <a:prstGeom prst="downArrow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60515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1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1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mod8_slide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622</TotalTime>
  <Words>664</Words>
  <Application>Microsoft Office PowerPoint</Application>
  <PresentationFormat>Widescreen</PresentationFormat>
  <Paragraphs>25</Paragraphs>
  <Slides>25</Slides>
  <Notes>25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29" baseType="lpstr">
      <vt:lpstr>Aptos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28</cp:revision>
  <dcterms:created xsi:type="dcterms:W3CDTF">2026-10-21T13:01:14Z</dcterms:created>
  <dcterms:modified xsi:type="dcterms:W3CDTF">2026-10-22T14:06:59Z</dcterms:modified>
</cp:coreProperties>
</file>